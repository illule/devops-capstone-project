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38BDF8"/>
                </a:solidFill>
                <a:latin typeface="Calibri"/>
              </a:defRPr>
            </a:pPr>
            <a:r>
              <a:t>BOOKSHELF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DevOps Capstone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Calibri"/>
              </a:defRPr>
            </a:pPr>
            <a:r>
              <a:t>Build &amp;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Full-Stack Application  •  CI/CD  •  Kubernetes  •  Observability  •  Security  •  GitOps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DE80"/>
                </a:solidFill>
                <a:latin typeface="Calibri"/>
              </a:defRPr>
            </a:pPr>
            <a:r>
              <a:t>Personal Reading Tracker &amp; Review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4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276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Application purpose, tech stack, and team goals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86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Application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677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Frontend, backend, database, and how they connect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65176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26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Containerization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077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Docker multi-stage builds &amp; image security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291840"/>
            <a:ext cx="411480" cy="4114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6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CI/CD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478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GitHub Actions: lint, test, scan, build, and deploy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931920"/>
            <a:ext cx="411480" cy="4114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0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Infrastructure as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87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Terraform for AWS VPC, EKS, IAM, and networking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57200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46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Kubernetes Orchestration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280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Deployments, services, HPA, secrets, and Helm charts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521208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86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Observability &amp;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4681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Prometheus metrics, Grafana dashboards, alerting rules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85216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Segoe UI Emoj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826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Security &amp; GitOps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61081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SAST, SCA, Trivy, Gitleaks, ArgoCD continuous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01 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What is BookShelf?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A personal reading tracker and review platform that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demonstrates a complete DevOps lifecycle.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519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Features: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CRUD operations for book collection management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Reading status tracking (want_to_read / reading / read)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Book reviews and ratings system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Collection statistics and analytics API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Health check and Prometheus metrics endpoints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</a:p>
          <a:p>
            <a:pPr>
              <a:spcAft>
                <a:spcPts val="519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DevOps Focus: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End-to-end CI/CD with automated security gates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Infrastructure as Code with Terraform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Kubernetes-native deployment with Helm</a:t>
            </a:r>
          </a:p>
          <a:p>
            <a:pPr>
              <a:spcAft>
                <a:spcPts val="519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 Full observability stack (Prometheus + Grafana)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80160"/>
            <a:ext cx="530352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9" name="Oval 8"/>
          <p:cNvSpPr/>
          <p:nvPr/>
        </p:nvSpPr>
        <p:spPr>
          <a:xfrm>
            <a:off x="6492240" y="2037080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Python 3.11 · FastAPI · SQLAlchemy · Alembic · Pydantic</a:t>
            </a:r>
          </a:p>
        </p:txBody>
      </p:sp>
      <p:sp>
        <p:nvSpPr>
          <p:cNvPr id="12" name="Oval 11"/>
          <p:cNvSpPr/>
          <p:nvPr/>
        </p:nvSpPr>
        <p:spPr>
          <a:xfrm>
            <a:off x="6492240" y="2439416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4140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1401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React 18 · Vite · JavaScript · Nginx reverse proxy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2841752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8163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8163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PostgreSQL 16 (Alpine) · Alembic migrations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244088"/>
            <a:ext cx="228600" cy="2286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218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Containers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186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Docker multi-stage builds · Non-root users · GHCR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646424"/>
            <a:ext cx="228600" cy="2286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CI/CD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6210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GitHub Actions (5-job pipeline) · Buildx · Trivy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048760"/>
            <a:ext cx="228600" cy="22860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Calibri"/>
              </a:defRPr>
            </a:pPr>
            <a:r>
              <a:t>IaC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0233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Terraform · AWS VPC · EKS · IAM roles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4451096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4256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K8s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4256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Deployments · Services · HPA · Ingress · Secrets · Helm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4853432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828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28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Prometheus · Grafana · kube-prometheus-stack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5255768"/>
            <a:ext cx="228600" cy="22860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52303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2303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Bandit · pip-audit · Trivy · Gitleaks</a:t>
            </a:r>
          </a:p>
        </p:txBody>
      </p:sp>
      <p:sp>
        <p:nvSpPr>
          <p:cNvPr id="36" name="Oval 35"/>
          <p:cNvSpPr/>
          <p:nvPr/>
        </p:nvSpPr>
        <p:spPr>
          <a:xfrm>
            <a:off x="6492240" y="5658104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632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GitOps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6327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ArgoCD · Automated sync · Self-healing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02  Application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645920" cy="10972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Browser</a:t>
            </a:r>
            <a:br/>
            <a:r>
              <a:t>HTTP Requests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2011680"/>
            <a:ext cx="731520" cy="36576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103120" cy="164592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828800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React 18 + Vite</a:t>
            </a:r>
            <a:br/>
            <a:r>
              <a:t>Nginx 1.27</a:t>
            </a:r>
            <a:br/>
            <a:r>
              <a:t>Serves static files</a:t>
            </a:r>
            <a:br/>
            <a:r>
              <a:t>Proxy /api -&gt; backend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60720" y="2011680"/>
            <a:ext cx="731520" cy="36576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188720"/>
            <a:ext cx="2560320" cy="20116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FastAPI + Uvicorn</a:t>
            </a:r>
            <a:br/>
            <a:r>
              <a:t>Python 3.11-slim</a:t>
            </a:r>
            <a:br/>
            <a:r>
              <a:t>SQLAlchemy ORM</a:t>
            </a:r>
            <a:br/>
            <a:r>
              <a:t>Alembic migrations</a:t>
            </a:r>
            <a:br/>
            <a:r>
              <a:t>Pydantic validation</a:t>
            </a:r>
            <a:br/>
            <a:r>
              <a:t>/api/metrics endpoint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18320" y="2011680"/>
            <a:ext cx="731520" cy="36576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32720" y="1554480"/>
            <a:ext cx="1371600" cy="12801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0116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PostgreSQL 16</a:t>
            </a:r>
            <a:br/>
            <a:r>
              <a:t>StatefulSet</a:t>
            </a:r>
            <a:br/>
            <a:r>
              <a:t>PV 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10972800" cy="2743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49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API Endpoints &amp; Routes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GET  /api/health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160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Health check — returns DB + service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GET  /api/books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List all books with filtering &amp; pagination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POST /api/books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983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Create a new book entry with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Consolas"/>
              </a:defRPr>
            </a:pPr>
            <a:r>
              <a:t>GET  /api/books/{id}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Retrieve single book details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PUT  /api/books/{id}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806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Update book details or reading 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160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onsolas"/>
              </a:defRPr>
            </a:pPr>
            <a:r>
              <a:t>DELETE /api/books/{id}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1605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Remove a book from collection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Consolas"/>
              </a:defRPr>
            </a:pPr>
            <a:r>
              <a:t>POST /api/books/{id}/reviews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Add a review for a book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983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onsolas"/>
              </a:defRPr>
            </a:pPr>
            <a:r>
              <a:t>GET  /api/stats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9834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Collection statistics (total, by status, avg)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ACC15"/>
                </a:solidFill>
                <a:latin typeface="Consolas"/>
              </a:defRPr>
            </a:pPr>
            <a:r>
              <a:t>GET  /api/metrics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Prometheus scrape endpoint (counters, histograms)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03  Containerization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Backend Dockerfile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Single-stage optimized build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32410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Base Image: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python:3.11-slim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27020"/>
            <a:ext cx="182880" cy="1828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System Deps: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apt-get upgrade + curl (health check)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329940"/>
            <a:ext cx="182880" cy="1828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Non-root User: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appuser (UID 1000) — no root access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83286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794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Dependencies: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pip install with --no-cache-dir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335780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42976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CVE Removal: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pip uninstall pip setuptools wheel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838700"/>
            <a:ext cx="182880" cy="1828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0" y="4800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Health Check: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800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curl -f http://localhost:8000/api/health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534162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53035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Entrypoint: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5303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uvicorn app.main:app --host 0.0.0.0 --port 8000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280160"/>
            <a:ext cx="530352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Frontend Dockerfile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Multi-stage build (Node → Nginx)</a:t>
            </a:r>
          </a:p>
        </p:txBody>
      </p:sp>
      <p:sp>
        <p:nvSpPr>
          <p:cNvPr id="31" name="Oval 30"/>
          <p:cNvSpPr/>
          <p:nvPr/>
        </p:nvSpPr>
        <p:spPr>
          <a:xfrm>
            <a:off x="6766560" y="232410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Stage 1 — Build: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286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node:20-alpine</a:t>
            </a:r>
          </a:p>
        </p:txBody>
      </p:sp>
      <p:sp>
        <p:nvSpPr>
          <p:cNvPr id="34" name="Oval 33"/>
          <p:cNvSpPr/>
          <p:nvPr/>
        </p:nvSpPr>
        <p:spPr>
          <a:xfrm>
            <a:off x="6766560" y="2827020"/>
            <a:ext cx="182880" cy="1828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Install: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npm ci --silent (lockfile-based)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3329940"/>
            <a:ext cx="182880" cy="1828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libri"/>
              </a:defRPr>
            </a:pPr>
            <a:r>
              <a:t>Build: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npm run build → /app/dist</a:t>
            </a:r>
          </a:p>
        </p:txBody>
      </p:sp>
      <p:sp>
        <p:nvSpPr>
          <p:cNvPr id="40" name="Oval 39"/>
          <p:cNvSpPr/>
          <p:nvPr/>
        </p:nvSpPr>
        <p:spPr>
          <a:xfrm>
            <a:off x="6766560" y="3832860"/>
            <a:ext cx="182880" cy="1828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Stage 2 — Serve: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794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nginx:1.27-alpine</a:t>
            </a:r>
          </a:p>
        </p:txBody>
      </p:sp>
      <p:sp>
        <p:nvSpPr>
          <p:cNvPr id="43" name="Oval 42"/>
          <p:cNvSpPr/>
          <p:nvPr/>
        </p:nvSpPr>
        <p:spPr>
          <a:xfrm>
            <a:off x="6766560" y="4335780"/>
            <a:ext cx="182880" cy="1828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4297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Calibri"/>
              </a:defRPr>
            </a:pPr>
            <a:r>
              <a:t>Security: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apk update &amp;&amp; apk upgrade --no-cache</a:t>
            </a:r>
          </a:p>
        </p:txBody>
      </p:sp>
      <p:sp>
        <p:nvSpPr>
          <p:cNvPr id="46" name="Oval 45"/>
          <p:cNvSpPr/>
          <p:nvPr/>
        </p:nvSpPr>
        <p:spPr>
          <a:xfrm>
            <a:off x="6766560" y="4838700"/>
            <a:ext cx="182880" cy="1828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Config: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4800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Custom nginx.conf (/api → backend:8000)</a:t>
            </a:r>
          </a:p>
        </p:txBody>
      </p:sp>
      <p:sp>
        <p:nvSpPr>
          <p:cNvPr id="49" name="Oval 48"/>
          <p:cNvSpPr/>
          <p:nvPr/>
        </p:nvSpPr>
        <p:spPr>
          <a:xfrm>
            <a:off x="6766560" y="5341620"/>
            <a:ext cx="182880" cy="1828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5303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libri"/>
              </a:defRPr>
            </a:pPr>
            <a:r>
              <a:t>Non-root: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0" y="5303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USER nginx (UID 101)</a:t>
            </a:r>
          </a:p>
        </p:txBody>
      </p:sp>
      <p:sp>
        <p:nvSpPr>
          <p:cNvPr id="52" name="Oval 51"/>
          <p:cNvSpPr/>
          <p:nvPr/>
        </p:nvSpPr>
        <p:spPr>
          <a:xfrm>
            <a:off x="6766560" y="5844540"/>
            <a:ext cx="182880" cy="1828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libri"/>
              </a:defRPr>
            </a:pPr>
            <a:r>
              <a:t>Health Check: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0" y="5806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wget --spider http://localhost:80/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04  CI/CD Pipeline — GitHub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Triggers: push to main  •  pull requests  •  manual dispatch  |  Registry: ghcr.io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Job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Backend</a:t>
            </a:r>
            <a:br/>
            <a:r>
              <a:t>Lint &amp;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46304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Ruff linter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ruff format --check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pytest -v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Parallel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60320" y="3108960"/>
            <a:ext cx="27432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173736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Job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Frontend</a:t>
            </a:r>
            <a:br/>
            <a:r>
              <a:t>Lint &amp; Build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788920"/>
            <a:ext cx="146304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ESLint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npm run build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Production bundle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Parallel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6320" y="3108960"/>
            <a:ext cx="27432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73736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Job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7171"/>
                </a:solidFill>
                <a:latin typeface="Calibri"/>
              </a:defRPr>
            </a:pPr>
            <a:r>
              <a:t>Security</a:t>
            </a:r>
            <a:br/>
            <a:r>
              <a:t>Scanning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94960" y="2788920"/>
            <a:ext cx="146304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Bandit (SAST)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pip-audit (SCA)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Gitleaks (secrets)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Parallel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32320" y="3108960"/>
            <a:ext cx="274320" cy="228600"/>
          </a:xfrm>
          <a:prstGeom prst="rightArrow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06640" y="173736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Job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923C"/>
                </a:solidFill>
                <a:latin typeface="Calibri"/>
              </a:defRPr>
            </a:pPr>
            <a:r>
              <a:t>Docker Build</a:t>
            </a:r>
            <a:br/>
            <a:r>
              <a:t>Scan &amp; Push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80960" y="2788920"/>
            <a:ext cx="146304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Buildx multi-arch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Trivy scan (0 CVE)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Push to GHCR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923C"/>
                </a:solidFill>
                <a:latin typeface="Calibri"/>
              </a:defRPr>
            </a:pPr>
            <a:r>
              <a:t>Gated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18320" y="3108960"/>
            <a:ext cx="274320" cy="22860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92640" y="1737360"/>
            <a:ext cx="201168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1828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Job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0574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GitOps</a:t>
            </a:r>
            <a:br/>
            <a:r>
              <a:t>Update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66960" y="2788920"/>
            <a:ext cx="146304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292608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sed image tags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Commit to repo</a:t>
            </a:r>
          </a:p>
          <a:p>
            <a:pPr>
              <a:spcAft>
                <a:spcPts val="72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• ArgoCD picks 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923C"/>
                </a:solidFill>
                <a:latin typeface="Calibri"/>
              </a:defRPr>
            </a:pPr>
            <a:r>
              <a:t>Gated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212080"/>
            <a:ext cx="11155680" cy="118872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Calibri"/>
              </a:defRPr>
            </a:pPr>
            <a:r>
              <a:t>Pipeline Flow: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Jobs 1-3 run in parallel → Job 4 is gated (only on push to main after Jobs 1-3 pass) → Job 5 updates Helm values → ArgoCD detects change and syncs to cluster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05  Infrastructure as Code — Terraform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381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56032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vpc.tf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VPC &amp; Networking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21945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VPC with CIDR 10.0.0.0/16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2 Public Subnets across 2 AZs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Internet Gateway for outbound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Route Table with 0.0.0.0/0 → IGW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EKS-compatible subnet tags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280160"/>
            <a:ext cx="256032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eks.tf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Calibri"/>
              </a:defRPr>
            </a:pPr>
            <a:r>
              <a:t>EKS Cluster &amp; Nodes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103120"/>
            <a:ext cx="21945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EKS cluster v1.29 with public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Managed node group (t3.medium)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Auto-scaling: min 1 / desired 2 / max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Security group (HTTPS from VPC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Rolling update (max 1 unavailable)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280160"/>
            <a:ext cx="256032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iam.tf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IAM Roles &amp; Policies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103120"/>
            <a:ext cx="21945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EKS cluster role (AmazonEKSClusterPolicy)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EKS VPC Resource Controller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Worker node role (AmazonEKSWorkerNodePolicy)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CNI policy for pod networking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ECR ReadOnly for pulling images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1280160"/>
            <a:ext cx="256032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417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variables.tf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2103120"/>
            <a:ext cx="21945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aws_region: us-east-1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project_name: bookshelf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environment: dev | staging | prod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Parameterized CIDR, AZs, instance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Separate tfvars per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06  Kubernetes Orchestration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155680" cy="457200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Namespace: bookshelf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56032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Deployments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219456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bookshelf-backend (2 replicas)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363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bookshelf-frontend (2 replicas)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75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Non-root: runAsUser 1000/101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Resource requests &amp;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53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Liveness &amp; readiness probes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011680"/>
            <a:ext cx="256032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StatefulSet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514600"/>
            <a:ext cx="21945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bookshelf-db (PostgreSQL 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363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Persistent Volume Claim (1Gi)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575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Init: Alembic migrate on startup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Service: ClusterIP (port 5432)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453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Health: pg_isready check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011680"/>
            <a:ext cx="256032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Calibri"/>
              </a:defRPr>
            </a:pPr>
            <a:r>
              <a:t>Services &amp; Ingress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514600"/>
            <a:ext cx="219456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backend: ClusterIP → port 8000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363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frontend: LoadBalancer → port 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75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backend alias svc for nginx proxy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Ingress: / → frontend, /api → 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53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TLS-ready annotations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011680"/>
            <a:ext cx="2560320" cy="32004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923C"/>
                </a:solidFill>
                <a:latin typeface="Calibri"/>
              </a:defRPr>
            </a:pPr>
            <a:r>
              <a:t>HPA &amp; Config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2514600"/>
            <a:ext cx="2194560" cy="381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Backend HPA: 2-5 pods (70% CPU)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1363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Frontend HPA: 2-5 pods (70% CPU)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575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ConfigMap: app configuration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Secret: DB credentials (base64)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4531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DATABASE_URL injected via env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86400"/>
            <a:ext cx="11155680" cy="10972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ACC15"/>
                </a:solidFill>
                <a:latin typeface="Calibri"/>
              </a:defRPr>
            </a:pPr>
            <a:r>
              <a:t>Helm Chart: bookshelf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Chart.yaml  •  values.yaml (base)  •  values-dev.yaml (dev overrides)  •  values-prod.yaml (production — image tags updated by CI)  •  Templates for all K8s resources above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07  Observability &amp;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Calibri"/>
              </a:defRPr>
            </a:pPr>
            <a:r>
              <a:t>Prometheus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kube-prometheus-stack via Helm  •  Namespace: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Scrape interval: 10s on bookshelf-backend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Metrics path: /api/metrics (port 8000)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Auto-discovery via kubernetes_sd_configs (pod role)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552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Relabeling: filter by app_kubernetes_io_component=backend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9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Retention: 7 days  •  Resources: 200m-500m CPU, 512Mi-1Gi 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29260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Calibri"/>
              </a:defRPr>
            </a:pPr>
            <a:r>
              <a:t>Grafana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BookShelf — DevOps Observability &amp; Performance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HTTP Request Rate by Endpoint (req/s by handler + method)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871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HTTP Status Codes Distribution (200, 201, 422, 5xx)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7121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API Request Latency — P50, P95, P99 percentiles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552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Pod Memory Usage (RSS) per container and pod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393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•  Auto-provisioned via ConfigMap sidecar (grafana_dashboard=1)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80560"/>
            <a:ext cx="10972800" cy="219456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Alerting Rules (PrometheusRule)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Alert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Condition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029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libri"/>
              </a:defRPr>
            </a:pPr>
            <a:r>
              <a:t>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onsolas"/>
              </a:defRPr>
            </a:pPr>
            <a:r>
              <a:t>BackendHighHttp5xxRate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94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5xx error rate &gt; 5% over 2m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1m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BackendHighLatency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P95 latency &gt; 500ms over 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Calibri"/>
              </a:defRPr>
            </a:pPr>
            <a:r>
              <a:t>WARNING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2m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126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onsolas"/>
              </a:defRPr>
            </a:pPr>
            <a:r>
              <a:t>BackendPodCrashLooping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12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Pod restarting &gt; 2x in 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126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1m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08  Security &amp; GitOps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Calibri"/>
              </a:defRPr>
            </a:pPr>
            <a:r>
              <a:t>Security Scanning Pipeline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971040"/>
            <a:ext cx="274320" cy="2743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Bandit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SAST — Static analysis of Python code for security anti-patterns</a:t>
            </a:r>
            <a:br/>
            <a:r>
              <a:t>(SQL injection, hardcoded passwords, exec() usage)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22600"/>
            <a:ext cx="274320" cy="2743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923C"/>
                </a:solidFill>
                <a:latin typeface="Calibri"/>
              </a:defRPr>
            </a:pPr>
            <a:r>
              <a:t>pip-audit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SCA — Checks all Python dependencies against known CVE</a:t>
            </a:r>
            <a:br/>
            <a:r>
              <a:t>databases for vulnerable package versions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074160"/>
            <a:ext cx="274320" cy="2743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Calibri"/>
              </a:defRPr>
            </a:pPr>
            <a:r>
              <a:t>Gitleaks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3434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Secret Scanning — Scans full git history for leaked</a:t>
            </a:r>
            <a:br/>
            <a:r>
              <a:t>credentials, API keys, tokens (with fetch-depth: 0)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2572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Trivy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949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Container Scanning — Scans built Docker images for OS</a:t>
            </a:r>
            <a:br/>
            <a:r>
              <a:t>and library vulnerabilities (HIGH/CRITICAL, exit-code: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Container Hardening: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Non-root users • pip uninstall build tools • apk upgrade • 0 HIGH/CRITICAL CVEs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280160"/>
            <a:ext cx="5303520" cy="502920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Calibri"/>
              </a:defRPr>
            </a:pPr>
            <a:r>
              <a:t>GitOps with ArgoCD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Continuous Delivery Flow: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377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Developer pushes code to main 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834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834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CI pipeline runs lint, test, security gates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291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91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Docker images built, scanned, pushed to GHCR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749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7490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Job 5: sed updates image tag in values-prod.yaml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06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2062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Automated git commit with new SHA tags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663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6634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ArgoCD detects drift from desired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120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1206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ArgoCD syncs Helm chart to K8s cluster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669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ArgoCD Application Config: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9436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39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Source: helm/bookshelf  •  Sync: Automated + Prune + SelfHeal</a:t>
            </a:r>
          </a:p>
          <a:p>
            <a:pPr>
              <a:spcAft>
                <a:spcPts val="439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Retry: 5 attempts with exponential backoff (5s → 3m max)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Repository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1100" b="1">
                <a:solidFill>
                  <a:srgbClr val="38BDF8"/>
                </a:solidFill>
                <a:latin typeface="Consolas"/>
              </a:defRPr>
            </a:pPr>
            <a:r>
              <a:t>DevOps-Capstone-Project/</a:t>
            </a:r>
          </a:p>
          <a:p>
            <a:pPr>
              <a:spcAft>
                <a:spcPts val="329"/>
              </a:spcAft>
              <a:defRPr sz="1100" b="1">
                <a:solidFill>
                  <a:srgbClr val="FB923C"/>
                </a:solidFill>
                <a:latin typeface="Consolas"/>
              </a:defRPr>
            </a:pPr>
            <a:r>
              <a:t>├── .github/workflows/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ci-cd.yml              # 5-job CI/CD pipeline</a:t>
            </a:r>
          </a:p>
          <a:p>
            <a:pPr>
              <a:spcAft>
                <a:spcPts val="329"/>
              </a:spcAft>
              <a:defRPr sz="1100" b="1">
                <a:solidFill>
                  <a:srgbClr val="38BDF8"/>
                </a:solidFill>
                <a:latin typeface="Consolas"/>
              </a:defRPr>
            </a:pPr>
            <a:r>
              <a:t>├── backend/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Dockerfile             # Python 3.11-slim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app/                   # FastAPI application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alembic/               # Database migrations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tests/                 # pytest test suite</a:t>
            </a:r>
          </a:p>
          <a:p>
            <a:pPr>
              <a:spcAft>
                <a:spcPts val="329"/>
              </a:spcAft>
              <a:defRPr sz="1100" b="1">
                <a:solidFill>
                  <a:srgbClr val="4ADE80"/>
                </a:solidFill>
                <a:latin typeface="Consolas"/>
              </a:defRPr>
            </a:pPr>
            <a:r>
              <a:t>├── frontend/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Dockerfile             # Multi-stage Node+Nginx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src/                   # React 18 source code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nginx.conf             # Reverse proxy config</a:t>
            </a:r>
          </a:p>
          <a:p>
            <a:pPr>
              <a:spcAft>
                <a:spcPts val="329"/>
              </a:spcAft>
              <a:defRPr sz="1100" b="1">
                <a:solidFill>
                  <a:srgbClr val="A78BFA"/>
                </a:solidFill>
                <a:latin typeface="Consolas"/>
              </a:defRPr>
            </a:pPr>
            <a:r>
              <a:t>├── k8s/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namespace.yaml         # bookshelf namespace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backend.yaml           # Deployment + Service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frontend.yaml          # Deployment + LB Svc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postgres.yaml          # StatefulSet + PVC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hpa.yaml               # Horizontal Pod Autoscalers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ingress.yaml           # Ingress routing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303520" cy="521208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9"/>
              </a:spcAft>
              <a:defRPr sz="1100" b="1">
                <a:solidFill>
                  <a:srgbClr val="FACC15"/>
                </a:solidFill>
                <a:latin typeface="Consolas"/>
              </a:defRPr>
            </a:pPr>
            <a:r>
              <a:t>├── helm/bookshelf/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Chart.yaml             # Helm chart metadata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values.yaml            # Base values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values-dev.yaml        # Dev overrides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values-prod.yaml       # Prod (CI-updated tags)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templates/             # K8s resource templates</a:t>
            </a:r>
          </a:p>
          <a:p>
            <a:pPr>
              <a:spcAft>
                <a:spcPts val="329"/>
              </a:spcAft>
              <a:defRPr sz="1100" b="1">
                <a:solidFill>
                  <a:srgbClr val="F87171"/>
                </a:solidFill>
                <a:latin typeface="Consolas"/>
              </a:defRPr>
            </a:pPr>
            <a:r>
              <a:t>├── terraform/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vpc.tf                 # VPC, subnets, IGW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eks.tf                 # EKS cluster + nodes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iam.tf                 # IAM roles &amp; policies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variables.tf           # Input variables</a:t>
            </a:r>
          </a:p>
          <a:p>
            <a:pPr>
              <a:spcAft>
                <a:spcPts val="329"/>
              </a:spcAft>
              <a:defRPr sz="1100" b="1">
                <a:solidFill>
                  <a:srgbClr val="4ADE80"/>
                </a:solidFill>
                <a:latin typeface="Consolas"/>
              </a:defRPr>
            </a:pPr>
            <a:r>
              <a:t>├── monitoring/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prometheus-values.yaml # kube-prometheus-stack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grafana-values.yaml    # Grafana config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grafana-dashboard.json # Custom 4-panel dashboard</a:t>
            </a:r>
          </a:p>
          <a:p>
            <a:pPr>
              <a:spcAft>
                <a:spcPts val="329"/>
              </a:spcAft>
              <a:defRPr sz="1100" b="1">
                <a:solidFill>
                  <a:srgbClr val="A78BFA"/>
                </a:solidFill>
                <a:latin typeface="Consolas"/>
              </a:defRPr>
            </a:pPr>
            <a:r>
              <a:t>├── gitops/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argocd-app.yaml        # ArgoCD Application</a:t>
            </a:r>
          </a:p>
          <a:p>
            <a:pPr>
              <a:spcAft>
                <a:spcPts val="329"/>
              </a:spcAft>
              <a:defRPr sz="1100" b="1">
                <a:solidFill>
                  <a:srgbClr val="F87171"/>
                </a:solidFill>
                <a:latin typeface="Consolas"/>
              </a:defRPr>
            </a:pPr>
            <a:r>
              <a:t>├── security/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├── bandit.yaml            # SAST config</a:t>
            </a:r>
          </a:p>
          <a:p>
            <a:pPr>
              <a:spcAft>
                <a:spcPts val="329"/>
              </a:spcAft>
              <a:defRPr sz="1100" b="0">
                <a:solidFill>
                  <a:srgbClr val="CBD5E1"/>
                </a:solidFill>
                <a:latin typeface="Consolas"/>
              </a:defRPr>
            </a:pPr>
            <a:r>
              <a:t>│   └── trivy.yaml             # Container scan config</a:t>
            </a:r>
          </a:p>
          <a:p>
            <a:pPr>
              <a:spcAft>
                <a:spcPts val="329"/>
              </a:spcAft>
              <a:defRPr sz="1100" b="1">
                <a:solidFill>
                  <a:srgbClr val="FB923C"/>
                </a:solidFill>
                <a:latin typeface="Consolas"/>
              </a:defRPr>
            </a:pPr>
            <a:r>
              <a:t>└── docker-compose.yml         # Local dev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>
              <a:gd name="adj" fmla="val 4000"/>
            </a:avLst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10312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1645920" cy="146304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Modules</a:t>
            </a:r>
            <a:br/>
            <a:r>
              <a:t>Covered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560320"/>
            <a:ext cx="1645920" cy="146304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246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CI/CD</a:t>
            </a:r>
            <a:br/>
            <a:r>
              <a:t>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560320"/>
            <a:ext cx="1645920" cy="146304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8717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246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Security</a:t>
            </a:r>
            <a:br/>
            <a:r>
              <a:t>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560320"/>
            <a:ext cx="1645920" cy="146304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923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246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Grafana</a:t>
            </a:r>
            <a:br/>
            <a:r>
              <a:t>Panels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2560320"/>
            <a:ext cx="1645920" cy="1463040"/>
          </a:xfrm>
          <a:prstGeom prst="roundRect">
            <a:avLst>
              <a:gd name="adj" fmla="val 4000"/>
            </a:avLst>
          </a:prstGeom>
          <a:solidFill>
            <a:srgbClr val="1A253C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2461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Alert</a:t>
            </a:r>
            <a:br/>
            <a:r>
              <a:t>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End-to-End DevOps Lifecycle: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BDF8"/>
                </a:solidFill>
                <a:latin typeface="Calibri"/>
              </a:defRPr>
            </a:pPr>
            <a:r>
              <a:t>Code → Lint &amp; Test → Security Scan → Docker Build → Trivy Scan → Push to GHCR → GitOps Update → ArgoCD Sync → Kubernetes → Prometheus → Grafana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